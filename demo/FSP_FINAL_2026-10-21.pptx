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1" r:id="rId17"/>
    <p:sldId id="267" r:id="rId2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7" Type="http://schemas.openxmlformats.org/officeDocument/2006/relationships/slide" Target="slides/slide9.xml"/><Relationship Id="rId26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НТ АЛЬЯНС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«НТ АЛЬЯНС»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«НТ АЛЬЯНС»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0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07.png"/><Relationship Id="rId5" Type="http://schemas.openxmlformats.org/officeDocument/2006/relationships/image" Target="../media/image808.png"/><Relationship Id="rId6" Type="http://schemas.openxmlformats.org/officeDocument/2006/relationships/image" Target="../media/image80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3749039"/>
            <a:ext cx="5852160" cy="868680"/>
          </a:xfrm>
        </p:spPr>
        <p:txBody>
          <a:bodyPr/>
          <a:lstStyle/>
          <a:p>
            <a:pPr marL="268288" indent="0">
              <a:buNone/>
            </a:pPr>
            <a:r>
              <a:rPr sz="2000" b="1">
                <a:solidFill>
                  <a:srgbClr val="FFFFFF"/>
                </a:solidFill>
              </a:rPr>
              <a:t>НТ АЛЬЯНС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040" y="4709160"/>
            <a:ext cx="8595360" cy="1005840"/>
          </a:xfrm>
        </p:spPr>
        <p:txBody>
          <a:bodyPr anchor="ctr">
            <a:normAutofit lnSpcReduction="10000"/>
          </a:bodyPr>
          <a:lstStyle/>
          <a:p>
            <a:pPr marL="271463" indent="-3175">
              <a:buNone/>
            </a:pPr>
            <a:r>
              <a:rPr sz="1300">
                <a:solidFill>
                  <a:srgbClr val="FFFFFF"/>
                </a:solidFill>
              </a:rPr>
              <a:t>Цифровая платформа-агрегатор ИТ-вакансий</a:t>
            </a:r>
          </a:p>
          <a:p>
            <a:pPr>
              <a:buNone/>
            </a:pPr>
            <a:r>
              <a:rPr sz="1300">
                <a:solidFill>
                  <a:srgbClr val="FFFFFF"/>
                </a:solidFill>
              </a:rPr>
              <a:t>с верифицированным профилем достижений</a:t>
            </a:r>
          </a:p>
          <a:p>
            <a:pPr>
              <a:buNone/>
            </a:pPr>
            <a:r>
              <a:rPr sz="1300">
                <a:solidFill>
                  <a:srgbClr val="FFFFFF"/>
                </a:solidFill>
              </a:rPr>
              <a:t>участника Федерации спортивного программирования (ФСП)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9712" y="4889209"/>
            <a:ext cx="4946904" cy="14173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Грейд из теста, не из резюме. В подборе статусы честные: подтверждено / нет / не проверено — «не проверено» не выдаём за полный матч.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Без боевого ФСП путь жив. Вилка ₽ в приглашении; согласие отделяет интерес от контактов. Жюри видит: основание грейда и кто получает контакты.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8328" y="3886200"/>
            <a:ext cx="5632704" cy="14173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A2733"/>
                </a:solidFill>
              </a:rPr>
              <a:t>Участники: 3 человека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Состав: Розов · Бессмертный · Холод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Роли: тест и подбор · сервер и стенд · UI кабинетов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Telegram: @l_tyrosine · @TylerDDDDDDD · @Nikita_Khol0d</a:t>
            </a:r>
          </a:p>
          <a:p>
            <a:pPr>
              <a:buNone/>
            </a:pPr>
            <a:r>
              <a:rPr sz="1200" b="1">
                <a:solidFill>
                  <a:srgbClr val="2A2733"/>
                </a:solidFill>
              </a:rPr>
              <a:t>Стенд: https://85-137-26-131.sslip.io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502920"/>
          </a:xfrm>
        </p:spPr>
        <p:txBody>
          <a:bodyPr/>
          <a:lstStyle/>
          <a:p>
            <a:pPr>
              <a:buNone/>
            </a:pPr>
            <a:r>
              <a:rPr sz="2200" b="1">
                <a:solidFill>
                  <a:srgbClr val="2A2733"/>
                </a:solidFill>
              </a:rPr>
              <a:t>КОМАНДА «НТ АЛЬЯНС»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32918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12280" y="2650590"/>
            <a:ext cx="4946904" cy="16459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Тест навыков → подтверждённый грейд. Приглашение с вилкой ₽ до переписки.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Из профиля, теста и статусов подбора (подтверждено / нет / не проверено) работодатель видит основания, не «красивое резюме»; контакты — только после принятия и только этой компании.</a:t>
            </a: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Стенд: https://85-137-26-131.sslip.io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19" name="Picture 18" descr="slide8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500176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75504" y="4219486"/>
            <a:ext cx="1892807" cy="868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None/>
            </a:pPr>
            <a:r>
              <a:rPr sz="1100">
                <a:solidFill>
                  <a:srgbClr val="2A2733"/>
                </a:solidFill>
              </a:rPr>
              <a:t>Тимлид / сервер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@TylerDDDDDDD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Датасет и стенд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7550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Данила Бессмертный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69924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872984" y="4219486"/>
            <a:ext cx="1892807" cy="86868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None/>
            </a:pPr>
            <a:r>
              <a:rPr sz="1100">
                <a:solidFill>
                  <a:srgbClr val="2A2733"/>
                </a:solidFill>
              </a:rPr>
              <a:t>UI и сценарии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@Nikita_Khol0d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Кабинеты / HR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87298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Никита Холод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304288" y="1522006"/>
            <a:ext cx="2192713" cy="4069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43891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38912"/>
            <a:ext cx="9862734" cy="420624"/>
          </a:xfrm>
        </p:spPr>
        <p:txBody>
          <a:bodyPr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</a:rPr>
              <a:t>КОМАНДА «НТ АЛЬЯНС»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78024" y="4219486"/>
            <a:ext cx="1892807" cy="86868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None/>
            </a:pPr>
            <a:r>
              <a:rPr sz="1100">
                <a:solidFill>
                  <a:srgbClr val="2A2733"/>
                </a:solidFill>
              </a:rPr>
              <a:t>Тест и подбор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@l_tyrosine</a:t>
            </a:r>
          </a:p>
          <a:p>
            <a:pPr>
              <a:buNone/>
            </a:pPr>
            <a:r>
              <a:rPr sz="1100">
                <a:solidFill>
                  <a:srgbClr val="2A2733"/>
                </a:solidFill>
              </a:rPr>
              <a:t>Методики и статусы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478024" y="3588550"/>
            <a:ext cx="1719072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500" b="1">
                <a:solidFill>
                  <a:srgbClr val="2A2733"/>
                </a:solidFill>
              </a:rPr>
              <a:t>Тимофей Розов</a:t>
            </a:r>
          </a:p>
        </p:txBody>
      </p:sp>
      <p:pic>
        <p:nvPicPr>
          <p:cNvPr id="62" name="Picture 61" descr="portrait_timof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244" y="1686598"/>
            <a:ext cx="1828800" cy="1828800"/>
          </a:xfrm>
          <a:prstGeom prst="rect">
            <a:avLst/>
          </a:prstGeom>
        </p:spPr>
      </p:pic>
      <p:pic>
        <p:nvPicPr>
          <p:cNvPr id="63" name="Picture 62" descr="portrait_dani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724" y="1686598"/>
            <a:ext cx="1828800" cy="1828800"/>
          </a:xfrm>
          <a:prstGeom prst="rect">
            <a:avLst/>
          </a:prstGeom>
        </p:spPr>
      </p:pic>
      <p:pic>
        <p:nvPicPr>
          <p:cNvPr id="64" name="Picture 63" descr="portrait_nik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04" y="1686598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43891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4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38912"/>
            <a:ext cx="9862734" cy="420624"/>
          </a:xfrm>
        </p:spPr>
        <p:txBody>
          <a:bodyPr/>
          <a:lstStyle/>
          <a:p>
            <a:pPr>
              <a:buNone/>
            </a:pPr>
            <a:r>
              <a:rPr sz="2000" b="1">
                <a:solidFill>
                  <a:srgbClr val="FFFFFF"/>
                </a:solidFill>
              </a:rPr>
              <a:t>КОМАНДА «НТ АЛЬЯНС»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0352" y="1627632"/>
            <a:ext cx="6949440" cy="11978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«Нанотехнологический альянс» собрался под ФСП ЛЦТ 2026: один — сервер и стенд, второй — UI кабинетов, третий — тест и подбор. Роли не смешиваем — так быстрее доводим сквозной путь до живого стенда. Три человека — три зоны ответственности, без «все делают всё».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0352" y="1280160"/>
            <a:ext cx="5029200" cy="356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0352" y="5276088"/>
            <a:ext cx="7498079" cy="91439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Главный вызов — честно жить в титуле «агрегатор», когда продукт — обратный найм.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sz="1300">
                <a:solidFill>
                  <a:srgbClr val="2A2733"/>
                </a:solidFill>
              </a:rPr>
              <a:t>Второй — демо без боевого ФСП: путь жив, «не проверено» ≠ полный матч, мок ФСП озвучен как граница MVP. Не маскируем дыру под «полный контур».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0352" y="4572000"/>
            <a:ext cx="6437376" cy="6309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С какими основными сложностями или вызовами</a:t>
            </a:r>
          </a:p>
          <a:p>
            <a:pPr>
              <a:buNone/>
            </a:pPr>
            <a:r>
              <a:rPr sz="1600" b="1">
                <a:solidFill>
                  <a:srgbClr val="6B2D8B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0352" y="3520440"/>
            <a:ext cx="6949440" cy="97840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2A2733"/>
                </a:solidFill>
              </a:rPr>
              <a:t>Нужно связать доказанный навык, честный грейд и согласие на контакт в один путь. Ошибку «почти» глазами не увидеть — её показывает статус. Сначала навыки и вилка ₽, потом переписка. Выбрали задачу, где честность статуса важнее «красивой витрины».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0352" y="2898648"/>
            <a:ext cx="5632704" cy="53035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rgbClr val="6B2D8B"/>
                </a:solidFill>
              </a:rPr>
              <a:t>Почему вы выбрали именно эту задачу</a:t>
            </a:r>
          </a:p>
          <a:p>
            <a:pPr>
              <a:buNone/>
            </a:pPr>
            <a:r>
              <a:rPr sz="1600" b="1">
                <a:solidFill>
                  <a:srgbClr val="6B2D8B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3744764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3744764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5216" y="1920240"/>
            <a:ext cx="4928616" cy="2834640"/>
          </a:xfrm>
        </p:spPr>
        <p:txBody>
          <a:bodyPr>
            <a:normAutofit/>
          </a:bodyPr>
          <a:lstStyle/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Стек. </a:t>
            </a:r>
            <a:r>
              <a:rPr sz="1300" b="0">
                <a:solidFill>
                  <a:srgbClr val="2A2733"/>
                </a:solidFill>
              </a:rPr>
              <a:t>React + FastAPI + PostgreSQL — кабинет HR и кандидата на одном стенде.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Грейд. </a:t>
            </a:r>
            <a:r>
              <a:rPr sz="1300" b="0">
                <a:solidFill>
                  <a:srgbClr val="2A2733"/>
                </a:solidFill>
              </a:rPr>
              <a:t>Считается на сервере из теста, не из резюме; UI только показывает факт.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Подбор. </a:t>
            </a:r>
            <a:r>
              <a:rPr sz="1300" b="0">
                <a:solidFill>
                  <a:srgbClr val="2A2733"/>
                </a:solidFill>
              </a:rPr>
              <a:t>Статусы: подтверждено / нет / не проверено — без подмены «почти».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Приглашение. </a:t>
            </a:r>
            <a:r>
              <a:rPr sz="1300" b="0">
                <a:solidFill>
                  <a:srgbClr val="2A2733"/>
                </a:solidFill>
              </a:rPr>
              <a:t>Вилка ₽ в тексте; контакты только после принятия этой компанией.</a:t>
            </a:r>
          </a:p>
          <a:p>
            <a:pPr>
              <a:spcAft>
                <a:spcPts val="755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Проверено. </a:t>
            </a:r>
            <a:r>
              <a:rPr sz="1300" b="0">
                <a:solidFill>
                  <a:srgbClr val="2A2733"/>
                </a:solidFill>
              </a:rPr>
              <a:t>Живой стенд: поиск → приглашение → согласие → контакты у своего HR.</a:t>
            </a:r>
          </a:p>
          <a:p>
            <a:pPr>
              <a:spcAft>
                <a:spcPts val="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Стенд. </a:t>
            </a:r>
            <a:r>
              <a:rPr sz="1300" b="0">
                <a:solidFill>
                  <a:srgbClr val="2A2733"/>
                </a:solidFill>
              </a:rPr>
              <a:t>https://85-137-26-131.sslip.io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0528" y="1920240"/>
            <a:ext cx="4956048" cy="2834640"/>
          </a:xfrm>
        </p:spPr>
        <p:txBody>
          <a:bodyPr>
            <a:normAutofit/>
          </a:bodyPr>
          <a:lstStyle/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Путь. </a:t>
            </a:r>
            <a:r>
              <a:rPr sz="1300" b="0">
                <a:solidFill>
                  <a:srgbClr val="2A2733"/>
                </a:solidFill>
              </a:rPr>
              <a:t>Тест → доказательства → предложение с вилкой → контакты после согласия.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Контроль. </a:t>
            </a:r>
            <a:r>
              <a:rPr sz="1300" b="0">
                <a:solidFill>
                  <a:srgbClr val="2A2733"/>
                </a:solidFill>
              </a:rPr>
              <a:t>Контакты открыты только пригласившей компании, не всему рынку.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Честность. </a:t>
            </a:r>
            <a:r>
              <a:rPr sz="1300" b="0">
                <a:solidFill>
                  <a:srgbClr val="2A2733"/>
                </a:solidFill>
              </a:rPr>
              <a:t>Без ФСП путь жив; ФСП ≠ грейд; «не проверено» ≠ полный матч.</a:t>
            </a:r>
          </a:p>
          <a:p>
            <a:pPr>
              <a:spcAft>
                <a:spcPts val="135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Выгода заказчику. Проверяемые основания вместо переписки «вслепую»; вилка ₽ сразу в тексте.</a:t>
            </a:r>
            <a:r>
              <a:rPr sz="1300" b="0">
                <a:solidFill>
                  <a:srgbClr val="2A2733"/>
                </a:solidFill>
              </a:rPr>
              <a:t/>
            </a:r>
          </a:p>
          <a:p>
            <a:pPr>
              <a:spcAft>
                <a:spcPts val="0"/>
              </a:spcAft>
              <a:buNone/>
            </a:pPr>
            <a:r>
              <a:rPr sz="1300" b="1">
                <a:solidFill>
                  <a:srgbClr val="2A2733"/>
                </a:solidFill>
              </a:rPr>
              <a:t>Дальше. Боевой ФСП и пилот с людьми. SMTP уже проверен.</a:t>
            </a:r>
            <a:r>
              <a:rPr sz="1300" b="0">
                <a:solidFill>
                  <a:srgbClr val="2A2733"/>
                </a:solidFill>
              </a:rPr>
              <a:t/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rgbClr val="6B2D8B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rgbClr val="6B2D8B"/>
                </a:solidFill>
              </a:rPr>
              <a:t>Почему это выгодно заказчику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916201"/>
            <a:ext cx="5574868" cy="346455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Закрываем механику ТЗ, а не витрину вакансий: работодатель сам находит подтверждённую категорию и выходит с оффером и прозрачной вилкой ₽.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Цепочка ценности: тест навыка → грейд на сервере (не из резюме) → подбор с честными статусами → приглашение с вилкой → контакты только после согласия и только этой компании.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Честность в выдаче: подтверждено / нет / не проверено. «Не проверено» явно отмечено; польза для найма требует пилота.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Без боевого ФСП путь жив (сценарий без привязки + демо-достижения). Собственная платформа, не парсер внешних досок.</a:t>
            </a:r>
          </a:p>
          <a:p>
            <a:pPr>
              <a:spcBef>
                <a:spcPts val="0"/>
              </a:spcBef>
              <a:spcAft>
                <a:spcPts val="742"/>
              </a:spcAft>
            </a:pPr>
            <a:r>
              <a:rPr sz="1300" b="0">
                <a:solidFill>
                  <a:srgbClr val="2A2733"/>
                </a:solidFill>
              </a:rPr>
              <a:t>Эксперт проверяет сам: живой HTTPS-стенд + открытый код + пары аккаунтов в материалах сдачи — один сквозной проход без сопровождения команды.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2733"/>
                </a:solidFill>
              </a:rPr>
              <a:t>Проверить сейчас: https://85-137-26-131.sslip.io/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6</a:t>
            </a:r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1234440"/>
            <a:ext cx="5574868" cy="42572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2D8B"/>
                </a:solidFill>
              </a:rPr>
              <a:t>Ядро решения: обратный найм с доказательствами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9184" y="1371600"/>
            <a:ext cx="11539728" cy="4846320"/>
          </a:xfrm>
          <a:prstGeom prst="roundRect">
            <a:avLst>
              <a:gd name="adj" fmla="val 6926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777240"/>
            <a:ext cx="5994696" cy="552061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Доказательства на стенде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22" name="Таблица 13"/>
          <p:cNvGraphicFramePr>
            <a:graphicFrameLocks noGrp="1"/>
          </p:cNvGraphicFramePr>
          <p:nvPr/>
        </p:nvGraphicFramePr>
        <p:xfrm>
          <a:off x="502920" y="15544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95360"/>
              </a:tblGrid>
              <a:tr h="896112">
                <a:tc>
                  <a:txBody>
                    <a:bodyPr tIns="73152" bIns="73152"/>
                    <a:lstStyle/>
                    <a:p>
                      <a:r>
                        <a:rPr sz="1500" b="1">
                          <a:solidFill>
                            <a:srgbClr val="6B2D8B"/>
                          </a:solidFill>
                        </a:rPr>
                        <a:t>Шаг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500" b="1">
                          <a:solidFill>
                            <a:srgbClr val="6B2D8B"/>
                          </a:solidFill>
                        </a:rPr>
                        <a:t>Что видно / что доказывает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1 · Профиль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Кандидат проходит тест; грейд из теста, не из резюме.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2 · Подбор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HR видит основания «почему в выдаче» и честные статусы.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3 · Вилка ₽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Адресное приглашение с вилкой до переписки, без обязательной вакансии.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 tIns="73152" bIns="73152"/>
                    <a:lstStyle/>
                    <a:p>
                      <a:r>
                        <a:rPr sz="1300" b="1">
                          <a:solidFill>
                            <a:srgbClr val="6B2D8B"/>
                          </a:solidFill>
                        </a:rPr>
                        <a:t>4 · Согласие</a:t>
                      </a:r>
                    </a:p>
                  </a:txBody>
                  <a:tcPr/>
                </a:tc>
                <a:tc>
                  <a:txBody>
                    <a:bodyPr tIns="73152" bIns="73152"/>
                    <a:lstStyle/>
                    <a:p>
                      <a:r>
                        <a:rPr sz="1300" b="0">
                          <a:solidFill>
                            <a:srgbClr val="2A2733"/>
                          </a:solidFill>
                        </a:rPr>
                        <a:t>Контакты у пригласившего HR; у другого работодателя — нет. Стенд: https://85-137-26-131.sslip.io/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411480"/>
            <a:ext cx="5354638" cy="5215508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1234440"/>
            <a:ext cx="4781233" cy="415925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6B2D8B"/>
                </a:solidFill>
              </a:rPr>
              <a:t>Границы MVP: ядро проверено, пилот — дальше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906397"/>
            <a:ext cx="4807840" cy="3464559"/>
          </a:xfrm>
        </p:spPr>
        <p:txBody>
          <a:bodyPr wrap="square"/>
          <a:lstStyle/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Уже для экспертизы: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два кабинета · тест→грейд · подбор с объяснением · приглашение с вилкой ₽ · адресные контакты · сценарий без ФСП и с демо-ФСП · живой стенд · открытый код.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Сознательно снаружи ядра (граница пилота, не «дыра»):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боевой реестр ФСП / Keycloak — мок по ТЗ; SMTP проверен 21 октября; рыночная сертификация метрик подбора — впереди.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Справа на кадре — кабинет работодателя: фильтры, карточки, доказательства навыков.</a:t>
            </a:r>
          </a:p>
          <a:p>
            <a:pPr>
              <a:spcBef>
                <a:spcPts val="0"/>
              </a:spcBef>
              <a:spcAft>
                <a:spcPts val="618"/>
              </a:spcAft>
            </a:pPr>
            <a:r>
              <a:rPr sz="1300" b="0">
                <a:solidFill>
                  <a:srgbClr val="2A2733"/>
                </a:solidFill>
              </a:rPr>
              <a:t>Далее: боевой ФСП, проверка с реальными работодателями — на уже работающем контуре согласия и грейда.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2733"/>
                </a:solidFill>
              </a:rPr>
              <a:t>Стенд сейчас: https://85-137-26-131.sslip.io/</a:t>
            </a:r>
          </a:p>
        </p:txBody>
      </p:sp>
      <p:pic>
        <p:nvPicPr>
          <p:cNvPr id="10" name="Picture 9" descr="slide14_demo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0"/>
            <a:ext cx="6096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7472" y="320040"/>
            <a:ext cx="5303520" cy="658368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691640"/>
            <a:ext cx="2672801" cy="3611880"/>
          </a:xfrm>
          <a:prstGeom prst="roundRect">
            <a:avLst>
              <a:gd name="adj" fmla="val 9821"/>
            </a:avLst>
          </a:prstGeom>
          <a:solidFill>
            <a:schemeClr val="bg1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1720"/>
            <a:ext cx="2284071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HR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2834640"/>
            <a:ext cx="2284071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Пробелы в навыках видны.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Доказательства теста в карточке.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Честный статус, не «резюме».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Вилка ₽ уже в приглашении.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Контакты — после согласия.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31720"/>
            <a:ext cx="2337416" cy="403756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кандидата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2834640"/>
            <a:ext cx="2337416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Навык говорит за вас.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Грейд из теста, не из анкеты.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Контакты открывает кандидат.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Чужой HR связи не видит.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Без обязательной вакансии.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31720"/>
            <a:ext cx="2268537" cy="403913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платформы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2834640"/>
            <a:ext cx="2268537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Своя платформа обратного найма.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Не парсер внешних досок.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Путь жив без боевого ФСП.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Мок ФСП — по ТЗ, не дыра.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HTTPS-стенд + открытый код.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1720"/>
            <a:ext cx="226355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Для ФСП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2834640"/>
            <a:ext cx="2263553" cy="214884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Достижения ФСП — в профиле.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Грейд всё равно из теста.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Демо ≠ боевой реестр.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Честность статуса важнее.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«Не проверено» ≠ матч.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38912"/>
            <a:ext cx="9862734" cy="420624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Зачем это рынку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874519"/>
            <a:ext cx="77100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874519"/>
            <a:ext cx="771003" cy="403756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874519"/>
            <a:ext cx="771003" cy="403913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874519"/>
            <a:ext cx="771003" cy="423628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B2D8B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7472" y="320040"/>
            <a:ext cx="8778240" cy="658368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sz="1200" b="1">
                <a:solidFill>
                  <a:srgbClr val="FFFFFF"/>
                </a:solidFill>
              </a:rPr>
              <a:t>10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7472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1 · Тест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472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Кандидат проходит тест навыка.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Результат сразу в профиле.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Грейд не из резюме и не из самооценки.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09744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3 · Подбор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09744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HR задаёт потребность.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В выдаче — основания и статусы.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«Не проверено» ≠ полный матч.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262872" y="118872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5 · Согласие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262872" y="153619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После принятия — контакты своему HR.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У другого работодателя контактов нет.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Согласие — отдельный шаг, не «галочка в анкете».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33472" y="457200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2 · Грейд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33472" y="491947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Сервер считает уровень.</a:t>
            </a:r>
            <a:endParaRPr lang="ru-RU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UI только показывает факт.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Подделать грейд с клиента нельзя.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114032" y="4572000"/>
            <a:ext cx="2505456" cy="36576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2D8B"/>
                </a:solidFill>
              </a:rPr>
              <a:t>4 · Вилка ₽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114032" y="4919472"/>
            <a:ext cx="2505456" cy="1280160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Адресное приглашение с вилкой.</a:t>
            </a:r>
            <a:endParaRPr lang="ru-RU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>
                <a:solidFill>
                  <a:srgbClr val="2A2733"/>
                </a:solidFill>
              </a:rPr>
              <a:t>До переписки, без обязательной вакансии.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A2733"/>
                </a:solidFill>
              </a:rPr>
              <a:t>Вилка min–max уже в тексте оффера.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39112" y="3840480"/>
            <a:ext cx="140817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25112" y="3840480"/>
            <a:ext cx="12984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01384" y="3840480"/>
            <a:ext cx="142646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805672" y="3840480"/>
            <a:ext cx="127101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0200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86200" y="416052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62472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66760" y="416052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15600" y="3154680"/>
            <a:ext cx="0" cy="36576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612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472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23560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92784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076688" y="3520440"/>
            <a:ext cx="877824" cy="640080"/>
          </a:xfrm>
          <a:prstGeom prst="round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38912"/>
            <a:ext cx="8595360" cy="420624"/>
          </a:xfrm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</a:rPr>
              <a:t>Как проверить за один проход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2880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5152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098280" y="109728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68880" y="448056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9440" y="4480560"/>
            <a:ext cx="2834640" cy="2103120"/>
          </a:xfrm>
          <a:prstGeom prst="roundRect">
            <a:avLst>
              <a:gd name="adj" fmla="val 10884"/>
            </a:avLst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