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9" r:id="rId13"/>
    <p:sldId id="372" r:id="rId14"/>
    <p:sldId id="373" r:id="rId15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1.0.0. Фактические результаты: docs/delivery/VALIDATION.md; evaluation/bank_v2_results.json; docs/review/MODERNIZATION_2026-10-11.md. Имена и роли: docs/TEAM_TASKS.md. HTTPS и E09 проверены. Gmail SMTP проверен. Реальный ФСП и человеческая валидация не подтверждены. Шаблон организаторов сохранён в исходном файле без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5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62" r:id="rId5"/>
    <p:sldLayoutId id="2147483689" r:id="rId11"/>
    <p:sldLayoutId id="2147483690" r:id="rId12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806.png"/><Relationship Id="rId4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291840"/>
            <a:ext cx="8229600" cy="1737360"/>
          </a:xfrm>
        </p:spPr>
        <p:txBody>
          <a:bodyPr wrap="square"/>
          <a:lstStyle/>
          <a:p>
            <a:pPr marL="268288" indent="0">
              <a:spcBef>
                <a:spcPts val="0"/>
              </a:spcBef>
              <a:spcAft>
                <a:spcPts val="120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ФСП · карьера</a:t>
            </a:r>
            <a:endParaRPr lang="ru-RU" sz="4800" dirty="0"/>
          </a:p>
          <a:p>
            <a:pPr>
              <a:spcBef>
                <a:spcPts val="0"/>
              </a:spcBef>
              <a:spcAft>
                <a:spcPts val="120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Навыки говорят за вас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5760" y="5532120"/>
            <a:ext cx="9601200" cy="868680"/>
          </a:xfrm>
        </p:spPr>
        <p:txBody>
          <a:bodyPr anchor="ctr" wrap="square">
            <a:normAutofit lnSpcReduction="10000"/>
          </a:bodyPr>
          <a:lstStyle/>
          <a:p>
            <a:pPr marL="271463" indent="-3175"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Обратный найм: проверка навыков → категория → предложение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MVP · две специализации · личное согласие на контакт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Данила · Никита · Тимофей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5120640"/>
            <a:ext cx="4945565" cy="10972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  <a:defRPr sz="1900" b="0">
                <a:solidFill>
                  <a:srgbClr val="1C1D22"/>
                </a:solidFill>
                <a:latin typeface="DejaVu Sans"/>
              </a:defRPr>
            </a:pPr>
            <a:r>
              <a:t>Подтверждения, unknown и самодекларация разделены. Контакт открывается только выбранной компании.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486400" cy="24231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520978"/>
                </a:solidFill>
                <a:latin typeface="DejaVu Sans"/>
              </a:defRPr>
            </a:pPr>
            <a:r>
              <a:t>Данила — тимлид и разработка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520978"/>
                </a:solidFill>
                <a:latin typeface="DejaVu Sans"/>
              </a:defRPr>
            </a:pPr>
            <a:r>
              <a:t>Никита — дизайн и разработка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520978"/>
                </a:solidFill>
                <a:latin typeface="DejaVu Sans"/>
              </a:defRPr>
            </a:pPr>
            <a:r>
              <a:t>Тимофей — исследователь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520978"/>
                </a:solidFill>
                <a:latin typeface="DejaVu Sans"/>
              </a:defRPr>
            </a:pPr>
            <a:r>
              <a:t>Состав и роли: docs/TEAM_TASKS.md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800" b="1">
                <a:solidFill>
                  <a:srgbClr val="520978"/>
                </a:solidFill>
                <a:latin typeface="DejaVu Sans"/>
              </a:defRPr>
            </a:pPr>
            <a:r>
              <a:t>Суть решения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743200"/>
            <a:ext cx="4945565" cy="15087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  <a:defRPr sz="2000" b="0">
                <a:solidFill>
                  <a:srgbClr val="1C1D22"/>
                </a:solidFill>
                <a:latin typeface="DejaVu Sans"/>
              </a:defRPr>
            </a:pPr>
            <a:r>
              <a:t>Кандидат проходит тест категории. Работодатель видит доказательства и приглашает лично — сразу с зарплатой.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wrap="square"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520978"/>
                </a:solidFill>
                <a:latin typeface="DejaVu Sans"/>
              </a:defRPr>
            </a:pPr>
            <a: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137160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3100" b="1">
                <a:solidFill>
                  <a:srgbClr val="520978"/>
                </a:solidFill>
                <a:latin typeface="DejaVu Sans"/>
              </a:defRPr>
            </a:pPr>
            <a:r>
              <a:t>Проверяемый путь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3100" b="1">
                <a:solidFill>
                  <a:srgbClr val="520978"/>
                </a:solidFill>
                <a:latin typeface="DejaVu Sans"/>
              </a:defRPr>
            </a:pPr>
            <a:r>
              <a:t>от навыков к работе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206240" y="1522006"/>
            <a:ext cx="362102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453127" y="4206240"/>
            <a:ext cx="3127248" cy="17373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Дизайн · разработка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Интерфейс и UX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Презентация и демо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453127" y="3456432"/>
            <a:ext cx="3127248" cy="6400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 sz="2700" b="1">
                <a:solidFill>
                  <a:srgbClr val="520978"/>
                </a:solidFill>
                <a:latin typeface="DejaVu Sans"/>
              </a:defRPr>
            </a:pPr>
            <a:r>
              <a:t>Никита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065008" y="1522006"/>
            <a:ext cx="362102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8311896" y="4206240"/>
            <a:ext cx="3127248" cy="173736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Исследования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Методики и эталоны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Оценка качества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311896" y="3456432"/>
            <a:ext cx="3127248" cy="6400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 sz="2700" b="1">
                <a:solidFill>
                  <a:srgbClr val="520978"/>
                </a:solidFill>
                <a:latin typeface="DejaVu Sans"/>
              </a:defRPr>
            </a:pPr>
            <a:r>
              <a:t>Тимофей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7472" y="1522006"/>
            <a:ext cx="362102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FFFFFF"/>
                </a:solidFill>
                <a:latin typeface="DejaVu Sans"/>
              </a:defRPr>
            </a:pPr>
            <a: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4360" y="4206240"/>
            <a:ext cx="3127248" cy="1737360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Тимлид · разработка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Сервер и интеграция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Данные и приёмка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94360" y="3456432"/>
            <a:ext cx="3127248" cy="6400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  <a:defRPr sz="2700" b="1">
                <a:solidFill>
                  <a:srgbClr val="520978"/>
                </a:solidFill>
                <a:latin typeface="DejaVu Sans"/>
              </a:defRPr>
            </a:pPr>
            <a:r>
              <a:t>Данила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5200" b="1">
                <a:solidFill>
                  <a:srgbClr val="FF005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0559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5200" b="1">
                <a:solidFill>
                  <a:srgbClr val="FF005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8" y="1920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5200" b="1">
                <a:solidFill>
                  <a:srgbClr val="FF005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3737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FFFFFF"/>
                </a:solidFill>
                <a:latin typeface="DejaVu Sans"/>
              </a:defRPr>
            </a:pPr>
            <a:r>
              <a:t>Роли по TEAM_TASKS.md. Фамилии, контакты, город и организация пока не предоставлены.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520978"/>
                </a:solidFill>
                <a:latin typeface="DejaVu Sans"/>
              </a:defRPr>
            </a:pPr>
            <a:r>
              <a:t>7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ПУТЬ К MVP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332720" cy="932688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История знакомства, организация и прошлые проекты команды не предоставлены. Здесь не заявляются вымышленные достижения.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332720" cy="9875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Исправлены постоянный ответ одного семейства, историческое раскрытие стажа и нехватка памяти сборки. Проверены отрицательные сценарии и повторные запросы.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33272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 b="0">
                <a:solidFill>
                  <a:srgbClr val="520978"/>
                </a:solidFill>
                <a:latin typeface="DejaVu Sans"/>
              </a:defRPr>
            </a:pPr>
            <a:r>
              <a:t>Кейс связывает проверяемые навыки с понятными условиями найма. Ценность для кандидата — контроль контактов и отсутствие потока откликов.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FFFFFF"/>
                </a:solidFill>
                <a:latin typeface="DejaVu Sans"/>
              </a:defRPr>
            </a:pPr>
            <a: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4114800"/>
          </a:xfrm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React / TypeScript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FastAPI / PostgreSQL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Версионный банк и доказательства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Подбор внутри категории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Транзакционное согласие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PDF по правам получателя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Адресные задания по расписанию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Без платных LLM и GPU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4114800"/>
          </a:xfrm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Пилот с экспертами и людьми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Расширение банка и рубрики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Реальная ФСП / OIDC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Пагинация и ускорение банка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Процедуры работы с данными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Сейчас: публичный HTTPS-стенд.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100" b="0">
                <a:solidFill>
                  <a:srgbClr val="520978"/>
                </a:solidFill>
                <a:latin typeface="DejaVu Sans"/>
              </a:defRPr>
            </a:pPr>
            <a:r>
              <a:t>Gmail SMTP: доставка проверена.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РЕАЛИЗАЦИЯ И РАЗВИТИЕ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400" b="1">
                <a:solidFill>
                  <a:srgbClr val="520978"/>
                </a:solidFill>
                <a:latin typeface="DejaVu Sans"/>
              </a:defRPr>
            </a:pPr>
            <a:r>
              <a:t>Техническая суть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300" b="1">
                <a:solidFill>
                  <a:srgbClr val="520978"/>
                </a:solidFill>
                <a:latin typeface="DejaVu Sans"/>
              </a:defRPr>
            </a:pPr>
            <a:r>
              <a:t>Следующий этап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508760"/>
            <a:ext cx="5574868" cy="42976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01  Профиль и согласие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02  Тест и подтверждённая категория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03  Потребность и доказательства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04  Приглашение с вилкой RUB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05  Принятие и адресный контакт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FFFFFF"/>
                </a:solidFill>
                <a:latin typeface="DejaVu Sans"/>
              </a:defRPr>
            </a:pPr>
            <a:r>
              <a:t>3</a:t>
            </a:r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669280" cy="42572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1">
                <a:solidFill>
                  <a:srgbClr val="520978"/>
                </a:solidFill>
                <a:latin typeface="DejaVu Sans"/>
              </a:defRPr>
            </a:pPr>
            <a:r>
              <a:t>ОТ ПРОФИЛЯ К ПРЕДЛОЖЕНИЮ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20840" y="114300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Два кабинета · один сценарий</a:t>
            </a:r>
          </a:p>
        </p:txBody>
      </p:sp>
      <p:pic>
        <p:nvPicPr>
          <p:cNvPr id="32" name="Picture 31" descr="06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47088"/>
            <a:ext cx="5120640" cy="3556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2084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Сохранённая подборка и источник каждого основания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645920"/>
            <a:ext cx="10789619" cy="448056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24 семейства · 6 категорий · 8 заданий на попытку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Сервер хранит seed, версию, эталон и результат.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Нужно 6/8 и 3/4 по основному навыку. Грейд не понижается.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Пересдача — через 24 часа; смена уровня — через 90 дней.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Параметризация уменьшает пользу копирования ответов.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Защита от внешней помощи и валидность на людях не доказаны.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FFFFFF"/>
                </a:solidFill>
                <a:latin typeface="DejaVu Sans"/>
              </a:defRPr>
            </a:pPr>
            <a: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8046720" cy="552061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ЧТО ПОДТВЕРЖДАЕТ ТЕСТ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1200" b="0">
                <a:solidFill>
                  <a:srgbClr val="FFFFFF"/>
                </a:solidFill>
                <a:latin typeface="DejaVu Sans"/>
              </a:defRPr>
            </a:pPr>
            <a: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5029200" cy="415925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1">
                <a:solidFill>
                  <a:srgbClr val="520978"/>
                </a:solidFill>
                <a:latin typeface="DejaVu Sans"/>
              </a:defRPr>
            </a:pPr>
            <a:r>
              <a:t>ПРОВЕРКИ И РЕЗУЛЬТАТЫ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  <p:txBody>
          <a:bodyPr wrap="square"/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1C1D22"/>
                </a:solidFill>
                <a:latin typeface="DejaVu Sans"/>
              </a:defRPr>
            </a:p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325880"/>
            <a:ext cx="4807840" cy="47548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92 серверных теста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55 проверок склонений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18 сценариев требований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E09: согласие → ответ → оценка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Мобильные экраны и приватность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Новая БД, backup/restore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300" b="0">
                <a:solidFill>
                  <a:srgbClr val="520978"/>
                </a:solidFill>
                <a:latin typeface="DejaVu Sans"/>
              </a:defRPr>
            </a:pPr>
            <a:r>
              <a:t>и перезапуск: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Проверка банка · симуляция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3800" b="1">
                <a:solidFill>
                  <a:srgbClr val="FFFFFF"/>
                </a:solidFill>
                <a:latin typeface="DejaVu Sans"/>
              </a:defRPr>
            </a:pPr>
            <a:r>
              <a:t>42 000 попыток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718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36 000 сверок эталонов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0 расхождений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FFFFF"/>
                </a:solidFill>
                <a:latin typeface="DejaVu Sans"/>
              </a:defRPr>
            </a:pPr>
            <a:r>
              <a:t>Пилот на людях: 0 участников.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FFFFF"/>
                </a:solidFill>
                <a:latin typeface="DejaVu Sans"/>
              </a:defRPr>
            </a:pPr>
            <a:r>
              <a:t>V4: итоговая NDCG@10 не определена.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000" b="0">
                <a:solidFill>
                  <a:srgbClr val="FFFFFF"/>
                </a:solidFill>
                <a:latin typeface="DejaVu Sans"/>
              </a:defRPr>
            </a:pPr>
            <a:r>
              <a:t>Модель в API не внедрена.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