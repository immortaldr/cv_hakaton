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9" r:id="rId13"/>
    <p:sldId id="372" r:id="rId14"/>
    <p:sldId id="373" r:id="rId15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1.0.0. Фактические результаты: docs/delivery/VALIDATION.md; evaluation/results.json. Имена и роли: docs/TEAM_TASKS.md. Реальный SMTP/ФСП, человеческая валидация и публичный HTTPS не подтверждены. Шаблон организаторов сохранён в исходном файле без изменений.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5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62" r:id="rId5"/>
    <p:sldLayoutId id="2147483689" r:id="rId11"/>
    <p:sldLayoutId id="2147483690" r:id="rId12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806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3291840"/>
            <a:ext cx="8229600" cy="1737360"/>
          </a:xfrm>
        </p:spPr>
        <p:txBody>
          <a:bodyPr wrap="square"/>
          <a:lstStyle/>
          <a:p>
            <a:pPr marL="268288" indent="0">
              <a:spcBef>
                <a:spcPts val="0"/>
              </a:spcBef>
              <a:spcAft>
                <a:spcPts val="120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ФСП · карьера</a:t>
            </a:r>
            <a:endParaRPr lang="ru-RU" sz="4800" dirty="0"/>
          </a:p>
          <a:p>
            <a:pPr>
              <a:spcBef>
                <a:spcPts val="0"/>
              </a:spcBef>
              <a:spcAft>
                <a:spcPts val="1200"/>
              </a:spcAft>
              <a:defRPr sz="3400" b="1">
                <a:solidFill>
                  <a:srgbClr val="FFFFFF"/>
                </a:solidFill>
                <a:latin typeface="DejaVu Sans"/>
              </a:defRPr>
            </a:pPr>
            <a:r>
              <a:t>Навыки говорят за вас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5760" y="5532120"/>
            <a:ext cx="9601200" cy="868680"/>
          </a:xfrm>
        </p:spPr>
        <p:txBody>
          <a:bodyPr anchor="ctr" wrap="square">
            <a:normAutofit lnSpcReduction="10000"/>
          </a:bodyPr>
          <a:lstStyle/>
          <a:p>
            <a:pPr marL="271463" indent="-3175"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Обратный найм: проверка навыков → категория → предложение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MVP · две специализации · личное согласие на контакт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5074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Данила · Никита · Тимофей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5120640"/>
            <a:ext cx="4945565" cy="10972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Wingdings" pitchFamily="2" charset="2"/>
              <a:buNone/>
              <a:defRPr sz="1900" b="0">
                <a:solidFill>
                  <a:srgbClr val="1C1D22"/>
                </a:solidFill>
                <a:latin typeface="DejaVu Sans"/>
              </a:defRPr>
            </a:pPr>
            <a:r>
              <a:t>Подтверждения, unknown и самодекларация разделены. Контакт открывается только выбранной компании.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486400" cy="24231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Данила — тимлид и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Никита — дизайн и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Тимофей — исследователь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520978"/>
                </a:solidFill>
                <a:latin typeface="DejaVu Sans"/>
              </a:defRPr>
            </a:pPr>
            <a:r>
              <a:t>Состав и роли: docs/TEAM_TASKS.md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800" b="1">
                <a:solidFill>
                  <a:srgbClr val="520978"/>
                </a:solidFill>
                <a:latin typeface="DejaVu Sans"/>
              </a:defRPr>
            </a:pPr>
            <a:r>
              <a:t>Суть решения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743200"/>
            <a:ext cx="4945565" cy="15087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Wingdings" pitchFamily="2" charset="2"/>
              <a:buNone/>
              <a:defRPr sz="2000" b="0">
                <a:solidFill>
                  <a:srgbClr val="1C1D22"/>
                </a:solidFill>
                <a:latin typeface="DejaVu Sans"/>
              </a:defRPr>
            </a:pPr>
            <a:r>
              <a:t>Кандидат проходит тест категории. Работодатель видит доказательства и приглашает лично — сразу с зарплатой.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wrap="square"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520978"/>
                </a:solidFill>
                <a:latin typeface="DejaVu Sans"/>
              </a:defRPr>
            </a:pPr>
            <a:r>
              <a:t>2</a:t>
            </a:r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65760" y="1371600"/>
            <a:ext cx="5577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3100" b="1">
                <a:solidFill>
                  <a:srgbClr val="520978"/>
                </a:solidFill>
                <a:latin typeface="DejaVu Sans"/>
              </a:defRPr>
            </a:pPr>
            <a:r>
              <a:t>Проверяемый путь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3100" b="1">
                <a:solidFill>
                  <a:srgbClr val="520978"/>
                </a:solidFill>
                <a:latin typeface="DejaVu Sans"/>
              </a:defRPr>
            </a:pPr>
            <a:r>
              <a:t>от навыков к работе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4206240" y="1522006"/>
            <a:ext cx="3621024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453127" y="4206240"/>
            <a:ext cx="3127248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Дизайн ·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Интерфейс и UX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Презентация и демо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453127" y="3456432"/>
            <a:ext cx="3127248" cy="6400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None/>
              <a:defRPr sz="2700" b="1">
                <a:solidFill>
                  <a:srgbClr val="520978"/>
                </a:solidFill>
                <a:latin typeface="DejaVu Sans"/>
              </a:defRPr>
            </a:pPr>
            <a:r>
              <a:t>Никита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8065008" y="1522006"/>
            <a:ext cx="3621024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8311896" y="4206240"/>
            <a:ext cx="3127248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Исследования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Методики и эталоны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Оценка качества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8311896" y="3456432"/>
            <a:ext cx="3127248" cy="6400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None/>
              <a:defRPr sz="2700" b="1">
                <a:solidFill>
                  <a:srgbClr val="520978"/>
                </a:solidFill>
                <a:latin typeface="DejaVu Sans"/>
              </a:defRPr>
            </a:pPr>
            <a:r>
              <a:t>Тимофей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7472" y="1522006"/>
            <a:ext cx="3621024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94360" y="4206240"/>
            <a:ext cx="3127248" cy="1737360"/>
          </a:xfrm>
        </p:spPr>
        <p:txBody>
          <a:bodyPr wrap="square">
            <a:normAutofit/>
          </a:bodyPr>
          <a:lstStyle/>
          <a:p>
            <a:pPr rtl="0" fontAlgn="base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Тимлид · разработка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Сервер и интеграция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Данные и приёмка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94360" y="3456432"/>
            <a:ext cx="3127248" cy="6400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spcAft>
                <a:spcPts val="1200"/>
              </a:spcAft>
              <a:buNone/>
              <a:defRPr sz="2700" b="1">
                <a:solidFill>
                  <a:srgbClr val="520978"/>
                </a:solidFill>
                <a:latin typeface="DejaVu Sans"/>
              </a:defRPr>
            </a:pPr>
            <a:r>
              <a:t>Данила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" y="19202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5200" b="1">
                <a:solidFill>
                  <a:srgbClr val="FF0053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0559" y="19202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5200" b="1">
                <a:solidFill>
                  <a:srgbClr val="FF0053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9328" y="192024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5200" b="1">
                <a:solidFill>
                  <a:srgbClr val="FF0053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437376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000" b="0">
                <a:solidFill>
                  <a:srgbClr val="FFFFFF"/>
                </a:solidFill>
                <a:latin typeface="DejaVu Sans"/>
              </a:defRPr>
            </a:pPr>
            <a:r>
              <a:t>Роли по TEAM_TASKS.md. Фамилии, контакты, город и организация пока не предоставлены.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520978"/>
                </a:solidFill>
                <a:latin typeface="DejaVu Sans"/>
              </a:defRPr>
            </a:pPr>
            <a:r>
              <a:t>7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ПУТЬ К MVP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10332720" cy="932688"/>
          </a:xfrm>
        </p:spPr>
        <p:txBody>
          <a:bodyPr wrap="square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История знакомства, организация и прошлые проекты команды не предоставлены. Здесь не заявляются вымышленные достижения.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10332720" cy="98755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Исправлены постоянный ответ одного семейства, историческое раскрытие стажа и нехватка памяти сборки. Проверены отрицательные сценарии и повторные запросы.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1033272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 b="0">
                <a:solidFill>
                  <a:srgbClr val="520978"/>
                </a:solidFill>
                <a:latin typeface="DejaVu Sans"/>
              </a:defRPr>
            </a:pPr>
            <a:r>
              <a:t>Кейс связывает проверяемые навыки с понятными условиями найма. Ценность для кандидата — контроль контактов и отсутствие потока откликов.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4114800"/>
          </a:xfrm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React / TypeScript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FastAPI / PostgreSQL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Версионный банк и доказательства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Подбор внутри категории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Транзакционное согласие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PDF по правам получателя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Без платных LLM и GPU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4114800"/>
          </a:xfrm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Пилот с экспертами и людьми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Расширение банка и рубрики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Реальные SMTP и ФСП / OIDC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Пагинация и ускорение банка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Процедуры работы с данными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Сейчас: локальный стенд и видео.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100" b="0">
                <a:solidFill>
                  <a:srgbClr val="520978"/>
                </a:solidFill>
                <a:latin typeface="DejaVu Sans"/>
              </a:defRPr>
            </a:pPr>
            <a:r>
              <a:t>Публичный домен не настроен.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РЕАЛИЗАЦИЯ И РАЗВИТИЕ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400" b="1">
                <a:solidFill>
                  <a:srgbClr val="520978"/>
                </a:solidFill>
                <a:latin typeface="DejaVu Sans"/>
              </a:defRPr>
            </a:pPr>
            <a:r>
              <a:t>Техническая суть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520978"/>
                </a:solidFill>
                <a:latin typeface="DejaVu Sans"/>
              </a:defRPr>
            </a:pPr>
            <a:r>
              <a:t>Следующий этап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508760"/>
            <a:ext cx="5574868" cy="429768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01  Профиль и согласие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02  Тест и подтверждённая категория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03  Потребность и доказательства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04  Приглашение с вилкой RUB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05  Принятие и адресный контакт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3</a:t>
            </a:r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669280" cy="425729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520978"/>
                </a:solidFill>
                <a:latin typeface="DejaVu Sans"/>
              </a:defRPr>
            </a:pPr>
            <a:r>
              <a:t>ОТ ПРОФИЛЯ К ПРЕДЛОЖЕНИЮ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720840" y="1143000"/>
            <a:ext cx="4983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000" b="1">
                <a:solidFill>
                  <a:srgbClr val="FFFFFF"/>
                </a:solidFill>
                <a:latin typeface="DejaVu Sans"/>
              </a:defRPr>
            </a:pPr>
            <a:r>
              <a:t>Два кабинета · один сценарий</a:t>
            </a:r>
          </a:p>
        </p:txBody>
      </p:sp>
      <p:pic>
        <p:nvPicPr>
          <p:cNvPr id="32" name="Picture 31" descr="06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847088"/>
            <a:ext cx="5120640" cy="3556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20840" y="56692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700" b="0">
                <a:solidFill>
                  <a:srgbClr val="FFFFFF"/>
                </a:solidFill>
                <a:latin typeface="DejaVu Sans"/>
              </a:defRPr>
            </a:pPr>
            <a:r>
              <a:t>Сохранённая подборка и источник каждого основания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645920"/>
            <a:ext cx="10789619" cy="448056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12 семейств · 6 категорий · 4 задания на попытку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Сервер хранит seed, версию, эталон и результат.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Проходной балл 75%. Неудача не понижает грейд.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Пересдача — через 24 часа; смена уровня — через 90 дней.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Параметризация уменьшает пользу копирования ответов.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Защита от внешней помощи и валидность на людях не доказаны.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8046720" cy="552061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ЧТО ПОДТВЕРЖДАЕТ ТЕСТ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1200" b="0">
                <a:solidFill>
                  <a:srgbClr val="FFFFFF"/>
                </a:solidFill>
                <a:latin typeface="DejaVu Sans"/>
              </a:defRPr>
            </a:pPr>
            <a: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5029200" cy="415925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1">
                <a:solidFill>
                  <a:srgbClr val="520978"/>
                </a:solidFill>
                <a:latin typeface="DejaVu Sans"/>
              </a:defRPr>
            </a:pPr>
            <a:r>
              <a:t>ПРОВЕРКИ И РЕЗУЛЬТАТЫ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97D71A7D-1E9E-F7B1-53EA-139E488DA2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1" y="0"/>
            <a:ext cx="6096000" cy="6857999"/>
          </a:xfrm>
        </p:spPr>
        <p:txBody>
          <a:bodyPr wrap="square"/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1C1D22"/>
                </a:solidFill>
                <a:latin typeface="DejaVu Sans"/>
              </a:defRPr>
            </a:p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325880"/>
            <a:ext cx="4807840" cy="4754880"/>
          </a:xfrm>
        </p:spPr>
        <p:txBody>
          <a:bodyPr wrap="square"/>
          <a:lstStyle/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36 тестов пройдено</a:t>
            </a:r>
            <a:endParaRPr lang="ru-RU" dirty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Права, грейды, повторы, PDF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30 пользователей · 270 чтений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0 ошибок · p95 3,04 с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Docker, новая БД, перезапуск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300" b="0">
                <a:solidFill>
                  <a:srgbClr val="520978"/>
                </a:solidFill>
                <a:latin typeface="DejaVu Sans"/>
              </a:defRPr>
            </a:pPr>
            <a:r>
              <a:t>и реальный Chromium-сценарий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500" b="1">
                <a:solidFill>
                  <a:srgbClr val="FFFFFF"/>
                </a:solidFill>
                <a:latin typeface="DejaVu Sans"/>
              </a:defRPr>
            </a:pPr>
            <a:r>
              <a:t>P@5 на синтетическом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3800" b="1">
                <a:solidFill>
                  <a:srgbClr val="FFFFFF"/>
                </a:solidFill>
                <a:latin typeface="DejaVu Sans"/>
              </a:defRPr>
            </a:pPr>
            <a:r>
              <a:t>0,80  /  0,475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7180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MVP                       baseline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1800" b="0">
                <a:solidFill>
                  <a:srgbClr val="FFFFFF"/>
                </a:solidFill>
                <a:latin typeface="DejaVu Sans"/>
              </a:defRPr>
            </a:pPr>
            <a:r>
              <a:t>8 запросов · 48 профилей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1605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FFFFFF"/>
                </a:solidFill>
                <a:latin typeface="DejaVu Sans"/>
              </a:defRPr>
            </a:pPr>
            <a:r>
              <a:t>97,92% — согласие грейдов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FFFFFF"/>
                </a:solidFill>
                <a:latin typeface="DejaVu Sans"/>
              </a:defRPr>
            </a:pPr>
            <a:r>
              <a:t>на 240 синтетических классификациях.</a:t>
            </a:r>
          </a:p>
          <a:p>
            <a:pPr>
              <a:spcBef>
                <a:spcPts val="0"/>
              </a:spcBef>
              <a:spcAft>
                <a:spcPts val="1200"/>
              </a:spcAft>
              <a:defRPr sz="2000" b="0">
                <a:solidFill>
                  <a:srgbClr val="FFFFFF"/>
                </a:solidFill>
                <a:latin typeface="DejaVu Sans"/>
              </a:defRPr>
            </a:pPr>
            <a:r>
              <a:t>Внешних экспертов: 0. Пилот на людях предстоит.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